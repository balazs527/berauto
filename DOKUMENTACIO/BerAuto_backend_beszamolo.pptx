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E39044C-B07E-4522-B136-6D2B0D7BA4C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prezentációban röviden bemutatom a BérAutó projekt backend részét. A cél az, hogy öt percben áttekintsem, milyen technológiákra épül, hogyan tagolódik a kód, milyen adatmodelleket használ, hogyan működik a bejelentkezés és jogosultságkezelés, valamint hogyan kezeli a kölcsönzési folyamatot.</a:t>
            </a:r>
          </a:p>
        </p:txBody>
      </p:sp>
      <p:sp>
        <p:nvSpPr>
          <p:cNvPr id="23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A6D442-C7BE-4B83-86B6-15485F5E0A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backend a feladatleírás szerinti három fő szerepkört szolgálja ki. A felhasználó a saját adatait és kölcsönzéseit kezeli, az ügyintéző a kölcsönzések életciklusát viszi végig, és a meglévő autók adatait is szerkesztheti. Az adminisztrátor feladata az új autók felvétele és az autók törlése. A rendszernapló backend oldalon elő van készítve, de jelenleg nincs hozzá külön felületi megjelenítés.</a:t>
            </a:r>
          </a:p>
        </p:txBody>
      </p:sp>
      <p:sp>
        <p:nvSpPr>
          <p:cNvPr id="23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BC7973-95BC-41AB-8539-D1CB7411E2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rendszerben a frontend nem közvetlenül az adatbázissal kommunikál, hanem HTTP kéréseket küld a backend API-nak. Az alkalmazás az app init fájlban jön létre APIFlask objektumként. Itt inicializálódik a CORS, az adatbázis, a migráció, és itt kerül regisztrálásra az /api prefix alatti blueprint-rendszer. A végpontok csak a kérést fogadják, az üzleti logika a service rétegben található, az adatmentést pedig a SQLAlchemy session végzi.</a:t>
            </a:r>
          </a:p>
        </p:txBody>
      </p:sp>
      <p:sp>
        <p:nvSpPr>
          <p:cNvPr id="24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3004B9-09AF-444D-BE22-4687F7E5D0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backend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fontos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része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moduláris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felépítés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végpontok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külön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blueprint-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ekbe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kerültek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user, car, rental, clerk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és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admin.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Ez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azért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előnyös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mert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átláthatóvá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teszi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melyik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szerepkör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vagy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funkció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hol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található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A routes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fájlok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konkrét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API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végpontokat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tartalmazzák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a schemas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fájlok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bejövő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és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kimenő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adatstruktúrákat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a service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fájlok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pedig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az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üzleti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logikát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24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95BCCF-A72A-47BF-99D7-1B22B8E973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 adatbázis-kezelés SQLAlchemy ORM-mel történik. A legfontosabb modellek a User, Role, Address, Car, Rental, Customer, Invoice és ActivityLog. A Rental a központi elem, mert összekapcsolja az autót, a regisztrált felhasználót vagy vendég ügyfelet, illetve a kölcsönzés állapotát. A Role és userroles a jogosultságok kezeléséhez kell, az Invoice a számlázást, az ActivityLog pedig a visszakövethetőséget biztosítja.</a:t>
            </a:r>
          </a:p>
        </p:txBody>
      </p:sp>
      <p:sp>
        <p:nvSpPr>
          <p:cNvPr id="24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1607F5-533D-4424-9EE8-01848D8430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backend biztonsági része több lépésből áll. Regisztrációnál a jelszó nem sima szövegként kerül adatbázisba, hanem hash formában. Bejelentkezéskor az email alapján megtörténik a felhasználó keresése, majd a jelszó ellenőrzése. Sikeres belépés esetén a backend JWT tokent generál, amely tartalmazza a felhasználó azonosítóját, szerepköreit és lejárati idejét. A védett végpontoknál a token alapján dönthető el, hogy a kérés engedélyezett-e.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EE4702-0EEA-4B77-A146-5000C9630D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kölcsönzésnél a backend üzleti logikája nagyon fontos. Először ellenőrzi, hogy az autó aktív és elérhető-e. Ezután vizsgálja a dátumokat: nem indulhat múltbeli időpontból, a záró dátum nem lehet korábbi, és ugyanarra az autóra nem lehet átfedő requested, accepted vagy handed_over állapotú kölcsönzés. Az ügyintéző elfogadja az igényt, rögzíti az átadást és visszavételt, majd a visszavett kölcsönzés alapján számla készíthető.</a:t>
            </a:r>
          </a:p>
        </p:txBody>
      </p:sp>
      <p:sp>
        <p:nvSpPr>
          <p:cNvPr id="25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155CAE-DA7D-40BB-B3CE-E0FBB67E56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 ügyintéző és az admin feladatkörei elkülönülnek. Az ügyintéző a kölcsönzési folyamatot kezeli: listázza a kéréseket, elfogad, átad, visszavesz, számlát állít ki, és a meglévő autók adatait is tudja szerkeszteni. Új autó felvétele és autó törlése viszont csak admin jogosultsággal történhet. A naplózás backend oldalon elő van készítve, de jelenleg nincs hozzá külön UI. Fontos megoldás a soft delete, vagyis törléskor az autó nem fizikailag törlődik, hanem inaktívvá válik.</a:t>
            </a:r>
          </a:p>
        </p:txBody>
      </p:sp>
      <p:sp>
        <p:nvSpPr>
          <p:cNvPr id="25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D581E2-B0E4-4431-8E8D-E30F35EEBE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backend megbízhatóságát több megoldás támogatja. A schema validáció már a végpontnál ellenőrzi a kéréseket. A service rétegben találhatók a konkrét üzleti ellenőrzések, például hogy az ár pozitív legyen, a kilométeróra ne csökkenjen, vagy az autó ne legyen inaktívan elérhető. Az adatbázis-műveletek tranzakciókban történnek, hiba esetén rollback van. A fontos események az ActivityLog táblába kerülnek, de ez jelenleg csak backend szinten van előkészítve, külön kezelőfelület még nincs hozzá.</a:t>
            </a:r>
          </a:p>
        </p:txBody>
      </p:sp>
      <p:sp>
        <p:nvSpPr>
          <p:cNvPr id="25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BA0AA7-769A-4567-A5C5-B680AD36E8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Összefoglalva: a BérAutó backend egy API-alapú, szerepkörökre bontott rendszer. Az APIFlask és a blueprint-ek átlátható felépítést adnak, a SQLAlchemy ORM kezeli az adatbázist, a JWT és szerepkörök biztosítják a védett végpontokat. A service rétegben vannak az üzleti szabályok, például az autó elérhetőségének, dátumoknak, kilométeróra-állásnak és számlázásnak az ellenőrzése. Így a backend nem csak kiszolgálja a frontend kéréseit, hanem biztosítja a folyamat helyes működését is.</a:t>
            </a:r>
          </a:p>
        </p:txBody>
      </p:sp>
      <p:sp>
        <p:nvSpPr>
          <p:cNvPr id="26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767CF5-B2B7-4FD6-B77C-1C4CF6645F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594360" y="6446520"/>
            <a:ext cx="11018520" cy="360"/>
          </a:xfrm>
          <a:prstGeom prst="line">
            <a:avLst/>
          </a:prstGeom>
          <a:ln w="12700">
            <a:solidFill>
              <a:srgbClr val="DCE7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97B63F-8355-4459-8715-A2EB9A1B5C4A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8138160" y="1417320"/>
            <a:ext cx="246852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0" b="0" u="none" strike="noStrike" dirty="0">
                <a:solidFill>
                  <a:srgbClr val="000000"/>
                </a:solidFill>
                <a:effectLst/>
                <a:uFillTx/>
                <a:latin typeface="Aptos"/>
              </a:rPr>
              <a:t>🚗</a:t>
            </a:r>
            <a:endParaRPr lang="en-US" sz="8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804600" y="2148840"/>
            <a:ext cx="67662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 dirty="0" err="1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BérAutó</a:t>
            </a:r>
            <a:r>
              <a:rPr lang="en-US" sz="39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 backend</a:t>
            </a:r>
            <a:endParaRPr lang="en-US" sz="3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22960" y="2880360"/>
            <a:ext cx="5851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u-HU" sz="1700" b="0" u="none" strike="noStrike" dirty="0">
                <a:solidFill>
                  <a:srgbClr val="BFD6F2"/>
                </a:solidFill>
                <a:effectLst/>
                <a:uFillTx/>
                <a:latin typeface="Aptos"/>
              </a:rPr>
              <a:t>Rövid</a:t>
            </a:r>
            <a:r>
              <a:rPr lang="hu-HU" sz="1700" dirty="0">
                <a:solidFill>
                  <a:srgbClr val="BFD6F2"/>
                </a:solidFill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BFD6F2"/>
                </a:solidFill>
                <a:effectLst/>
                <a:uFillTx/>
                <a:latin typeface="Aptos"/>
              </a:rPr>
              <a:t>technikai</a:t>
            </a:r>
            <a:r>
              <a:rPr lang="en-US" sz="1700" b="0" u="none" strike="noStrike" dirty="0">
                <a:solidFill>
                  <a:srgbClr val="BFD6F2"/>
                </a:solidFill>
                <a:effectLst/>
                <a:uFillTx/>
                <a:latin typeface="Aptos"/>
              </a:rPr>
              <a:t> </a:t>
            </a:r>
            <a:r>
              <a:rPr lang="en-US" sz="1700" b="0" u="none" strike="noStrike" dirty="0" err="1">
                <a:solidFill>
                  <a:srgbClr val="BFD6F2"/>
                </a:solidFill>
                <a:effectLst/>
                <a:uFillTx/>
                <a:latin typeface="Aptos"/>
              </a:rPr>
              <a:t>beszámoló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841320" y="3456360"/>
            <a:ext cx="3291480" cy="328680"/>
          </a:xfrm>
          <a:prstGeom prst="roundRect">
            <a:avLst>
              <a:gd name="adj" fmla="val 19444"/>
            </a:avLst>
          </a:prstGeom>
          <a:solidFill>
            <a:srgbClr val="243B63"/>
          </a:solidFill>
          <a:ln w="12700">
            <a:solidFill>
              <a:srgbClr val="FFFF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51120" y="3529440"/>
            <a:ext cx="3071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APIFlask • SQLAlchemy • JWT • szerepkörök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859680" y="5440680"/>
            <a:ext cx="6309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 err="1">
                <a:solidFill>
                  <a:srgbClr val="D5E5F5"/>
                </a:solidFill>
                <a:effectLst/>
                <a:uFillTx/>
                <a:latin typeface="Aptos"/>
              </a:rPr>
              <a:t>Fókusz</a:t>
            </a:r>
            <a:r>
              <a:rPr lang="en-US" sz="1250" b="0" u="none" strike="noStrike" dirty="0">
                <a:solidFill>
                  <a:srgbClr val="D5E5F5"/>
                </a:solidFill>
                <a:effectLst/>
                <a:uFillTx/>
                <a:latin typeface="Aptos"/>
              </a:rPr>
              <a:t>: a backend </a:t>
            </a:r>
            <a:r>
              <a:rPr lang="en-US" sz="1250" b="0" u="none" strike="noStrike" dirty="0" err="1">
                <a:solidFill>
                  <a:srgbClr val="D5E5F5"/>
                </a:solidFill>
                <a:effectLst/>
                <a:uFillTx/>
                <a:latin typeface="Aptos"/>
              </a:rPr>
              <a:t>legfontosabb</a:t>
            </a:r>
            <a:r>
              <a:rPr lang="en-US" sz="1250" b="0" u="none" strike="noStrike" dirty="0">
                <a:solidFill>
                  <a:srgbClr val="D5E5F5"/>
                </a:solidFill>
                <a:effectLst/>
                <a:uFillTx/>
                <a:latin typeface="Aptos"/>
              </a:rPr>
              <a:t> </a:t>
            </a:r>
            <a:r>
              <a:rPr lang="en-US" sz="1250" b="0" u="none" strike="noStrike" dirty="0" err="1">
                <a:solidFill>
                  <a:srgbClr val="D5E5F5"/>
                </a:solidFill>
                <a:effectLst/>
                <a:uFillTx/>
                <a:latin typeface="Aptos"/>
              </a:rPr>
              <a:t>részei</a:t>
            </a:r>
            <a:r>
              <a:rPr lang="en-US" sz="1250" b="0" u="none" strike="noStrike" dirty="0">
                <a:solidFill>
                  <a:srgbClr val="D5E5F5"/>
                </a:solidFill>
                <a:effectLst/>
                <a:uFillTx/>
                <a:latin typeface="Aptos"/>
              </a:rPr>
              <a:t> </a:t>
            </a:r>
            <a:r>
              <a:rPr lang="en-US" sz="1250" b="0" u="none" strike="noStrike" dirty="0" err="1">
                <a:solidFill>
                  <a:srgbClr val="D5E5F5"/>
                </a:solidFill>
                <a:effectLst/>
                <a:uFillTx/>
                <a:latin typeface="Aptos"/>
              </a:rPr>
              <a:t>és</a:t>
            </a:r>
            <a:r>
              <a:rPr lang="en-US" sz="1250" b="0" u="none" strike="noStrike" dirty="0">
                <a:solidFill>
                  <a:srgbClr val="D5E5F5"/>
                </a:solidFill>
                <a:effectLst/>
                <a:uFillTx/>
                <a:latin typeface="Aptos"/>
              </a:rPr>
              <a:t> </a:t>
            </a:r>
            <a:r>
              <a:rPr lang="en-US" sz="1250" b="0" u="none" strike="noStrike" dirty="0" err="1">
                <a:solidFill>
                  <a:srgbClr val="D5E5F5"/>
                </a:solidFill>
                <a:effectLst/>
                <a:uFillTx/>
                <a:latin typeface="Aptos"/>
              </a:rPr>
              <a:t>működése</a:t>
            </a:r>
            <a:endParaRPr lang="en-US" sz="12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sldNum" idx="5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5DECA4B-F647-4432-A434-83862D7D1911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1</a:t>
            </a:fld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85800" y="20124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F6EB3"/>
                </a:solidFill>
                <a:effectLst/>
                <a:uFillTx/>
                <a:latin typeface="Aptos"/>
              </a:rPr>
              <a:t>FELADATBÓL BACKEND FUNKCIONALITÁS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40080" y="51192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033"/>
                </a:solidFill>
                <a:effectLst/>
                <a:uFillTx/>
                <a:latin typeface="Aptos Display"/>
                <a:ea typeface="Aptos Display"/>
              </a:rPr>
              <a:t>Mit kell kiszolgálnia a backendnek?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58440" y="97848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 rendszer három szerepkörre épül, eltérő műveletekkel és jogosultságokkal.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85800" y="1417320"/>
            <a:ext cx="3154320" cy="3611520"/>
          </a:xfrm>
          <a:prstGeom prst="roundRect">
            <a:avLst>
              <a:gd name="adj" fmla="val 1739"/>
            </a:avLst>
          </a:prstGeom>
          <a:solidFill>
            <a:srgbClr val="E2F3E6"/>
          </a:solidFill>
          <a:ln w="15240">
            <a:solidFill>
              <a:srgbClr val="2D8C65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887040" y="158184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1344240" y="1581840"/>
            <a:ext cx="229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Felhasználó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87040" y="2002680"/>
            <a:ext cx="2751840" cy="289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Regisztráció, bejelentkezés, profil adatok módosítása, autók megtekintése, kölcsönzési igény leadása és előzmények lekérése.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4526280" y="1417320"/>
            <a:ext cx="3154320" cy="3611520"/>
          </a:xfrm>
          <a:prstGeom prst="roundRect">
            <a:avLst>
              <a:gd name="adj" fmla="val 1739"/>
            </a:avLst>
          </a:prstGeom>
          <a:solidFill>
            <a:srgbClr val="FFF1DE"/>
          </a:solidFill>
          <a:ln w="15240">
            <a:solidFill>
              <a:srgbClr val="B97531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4727520" y="158184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🧾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5184720" y="1581840"/>
            <a:ext cx="229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Ügyintéző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4727520" y="2002680"/>
            <a:ext cx="2751840" cy="289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Beérkezett igények kezelése, elfogadás, átadás, visszavétel, futó és lejárt kölcsönzések megtekintése, számla kiállítása.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8366760" y="1417320"/>
            <a:ext cx="3154320" cy="3611520"/>
          </a:xfrm>
          <a:prstGeom prst="roundRect">
            <a:avLst>
              <a:gd name="adj" fmla="val 1739"/>
            </a:avLst>
          </a:prstGeom>
          <a:solidFill>
            <a:srgbClr val="F2E7FA"/>
          </a:solidFill>
          <a:ln w="15240">
            <a:solidFill>
              <a:srgbClr val="7A42A8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8568000" y="158184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🛠️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9025200" y="1581840"/>
            <a:ext cx="229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Adminisztrátor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8568000" y="2002680"/>
            <a:ext cx="2751840" cy="289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Autók felvétele és törlése, admin műveletek kezelése, a rendszernapló pedig backend oldalon előkészítve.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58440" y="648324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99AA"/>
                </a:solidFill>
                <a:effectLst/>
                <a:uFillTx/>
                <a:latin typeface="Aptos"/>
              </a:rPr>
              <a:t>A backend feladata: adatok védelme, folyamatok ellenőrzése és szerepkör szerinti hozzáférés.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sldNum" idx="6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EBB5D36-4CB4-48B8-B8B2-DFD65ED1903F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685800" y="20124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F6EB3"/>
                </a:solidFill>
                <a:effectLst/>
                <a:uFillTx/>
                <a:latin typeface="Aptos"/>
              </a:rPr>
              <a:t>ARCHITEKTÚRA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640080" y="51192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033"/>
                </a:solidFill>
                <a:effectLst/>
                <a:uFillTx/>
                <a:latin typeface="Aptos Display"/>
                <a:ea typeface="Aptos Display"/>
              </a:rPr>
              <a:t>A backend helye a rendszerben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658440" y="97848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 frontend API hívásokat küld, a backend validál, feldolgoz, majd az ORM-en keresztül ment.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2541960" y="3154680"/>
            <a:ext cx="1417320" cy="360"/>
          </a:xfrm>
          <a:prstGeom prst="line">
            <a:avLst/>
          </a:prstGeom>
          <a:ln w="25400">
            <a:solidFill>
              <a:srgbClr val="2F6EB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5440680" y="3154680"/>
            <a:ext cx="1143000" cy="360"/>
          </a:xfrm>
          <a:prstGeom prst="line">
            <a:avLst/>
          </a:prstGeom>
          <a:ln w="25400">
            <a:solidFill>
              <a:srgbClr val="2F6EB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8275320" y="3154680"/>
            <a:ext cx="1143000" cy="360"/>
          </a:xfrm>
          <a:prstGeom prst="line">
            <a:avLst/>
          </a:prstGeom>
          <a:ln w="25400">
            <a:solidFill>
              <a:srgbClr val="2F6EB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640080" y="1874520"/>
            <a:ext cx="1965600" cy="2486880"/>
          </a:xfrm>
          <a:prstGeom prst="roundRect">
            <a:avLst>
              <a:gd name="adj" fmla="val 2791"/>
            </a:avLst>
          </a:prstGeom>
          <a:solidFill>
            <a:srgbClr val="EAF3FF"/>
          </a:solidFill>
          <a:ln w="15240">
            <a:solidFill>
              <a:srgbClr val="2F6EB3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841320" y="203904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🖥️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1298520" y="2039040"/>
            <a:ext cx="1105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Frontend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41320" y="2459880"/>
            <a:ext cx="1563120" cy="177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oldalak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service réteg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Bearer token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3794760" y="1691640"/>
            <a:ext cx="1782720" cy="2834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240">
            <a:solidFill>
              <a:srgbClr val="2F6EB3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3996000" y="18561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453200" y="18561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APIFlask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3996000" y="2277000"/>
            <a:ext cx="1380240" cy="212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/api prefix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Swagger: /swagger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JSON hibák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6446520" y="1691640"/>
            <a:ext cx="1965600" cy="2834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240">
            <a:solidFill>
              <a:srgbClr val="2D8C65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6647760" y="18561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⚙️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7104960" y="1856160"/>
            <a:ext cx="1105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Service réteg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6647760" y="2277000"/>
            <a:ext cx="1563120" cy="212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üzleti logika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validáció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tranzakciók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8"/>
          <p:cNvSpPr/>
          <p:nvPr/>
        </p:nvSpPr>
        <p:spPr>
          <a:xfrm>
            <a:off x="9281160" y="1874520"/>
            <a:ext cx="2057040" cy="2486880"/>
          </a:xfrm>
          <a:prstGeom prst="roundRect">
            <a:avLst>
              <a:gd name="adj" fmla="val 2667"/>
            </a:avLst>
          </a:prstGeom>
          <a:solidFill>
            <a:srgbClr val="FFF7EC"/>
          </a:solidFill>
          <a:ln w="15240">
            <a:solidFill>
              <a:srgbClr val="B97531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9"/>
          <p:cNvSpPr/>
          <p:nvPr/>
        </p:nvSpPr>
        <p:spPr>
          <a:xfrm>
            <a:off x="9482400" y="203904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🗄️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0"/>
          <p:cNvSpPr/>
          <p:nvPr/>
        </p:nvSpPr>
        <p:spPr>
          <a:xfrm>
            <a:off x="9939600" y="2039040"/>
            <a:ext cx="1197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SQLite DB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9482400" y="2459880"/>
            <a:ext cx="1654560" cy="177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SQLAlchemy ORM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modellek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kapcsolatok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3886200" y="489204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create_app()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9464040" y="489204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db.session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4"/>
          <p:cNvSpPr/>
          <p:nvPr/>
        </p:nvSpPr>
        <p:spPr>
          <a:xfrm>
            <a:off x="658440" y="6483240"/>
            <a:ext cx="6857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99AA"/>
                </a:solidFill>
                <a:effectLst/>
                <a:uFillTx/>
                <a:latin typeface="Aptos"/>
              </a:rPr>
              <a:t>Fő útvonal: Frontend → API végpont → service → SQLAlchemy session → adatbázis.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sldNum" idx="7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15EFD50-7083-4F08-8278-FA7396EB5B64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685800" y="20124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F6EB3"/>
                </a:solidFill>
                <a:effectLst/>
                <a:uFillTx/>
                <a:latin typeface="Aptos"/>
              </a:rPr>
              <a:t>KÓDSZERVEZÉS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640080" y="51192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033"/>
                </a:solidFill>
                <a:effectLst/>
                <a:uFillTx/>
                <a:latin typeface="Aptos Display"/>
                <a:ea typeface="Aptos Display"/>
              </a:rPr>
              <a:t>Blueprint alapú moduláris felépítés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658440" y="97848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 végpontok szerepkörök és fő entitások szerint külön modulokba kerültek.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6069420" y="1486080"/>
            <a:ext cx="5440320" cy="3885840"/>
          </a:xfrm>
          <a:prstGeom prst="roundRect">
            <a:avLst>
              <a:gd name="adj" fmla="val 941"/>
            </a:avLst>
          </a:prstGeom>
          <a:solidFill>
            <a:srgbClr val="FFFFFF"/>
          </a:solidFill>
          <a:ln w="12700">
            <a:solidFill>
              <a:srgbClr val="D9E4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6291000" y="1719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62033"/>
                </a:solidFill>
                <a:effectLst/>
                <a:uFillTx/>
                <a:latin typeface="Courier New"/>
                <a:ea typeface="Courier New"/>
              </a:rPr>
              <a:t>app/blueprints/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355080" y="22219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F6EB3"/>
                </a:solidFill>
                <a:effectLst/>
                <a:uFillTx/>
                <a:latin typeface="Courier New"/>
                <a:ea typeface="Courier New"/>
              </a:rPr>
              <a:t>/user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360920" y="2221920"/>
            <a:ext cx="3702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regisztráció, login, profil, saját kölcsönzések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6355080" y="26791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F6EB3"/>
                </a:solidFill>
                <a:effectLst/>
                <a:uFillTx/>
                <a:latin typeface="Courier New"/>
                <a:ea typeface="Courier New"/>
              </a:rPr>
              <a:t>/car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7360920" y="2679120"/>
            <a:ext cx="3702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publikus autólista és autó részletek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6355080" y="31363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F6EB3"/>
                </a:solidFill>
                <a:effectLst/>
                <a:uFillTx/>
                <a:latin typeface="Courier New"/>
                <a:ea typeface="Courier New"/>
              </a:rPr>
              <a:t>/rental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7360920" y="3136320"/>
            <a:ext cx="3702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vendégként leadott kölcsönzési igény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55080" y="35935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F6EB3"/>
                </a:solidFill>
                <a:effectLst/>
                <a:uFillTx/>
                <a:latin typeface="Courier New"/>
                <a:ea typeface="Courier New"/>
              </a:rPr>
              <a:t>/clerk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7360920" y="3593520"/>
            <a:ext cx="3702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igények, átadás, visszavétel, számla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6355080" y="40507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F6EB3"/>
                </a:solidFill>
                <a:effectLst/>
                <a:uFillTx/>
                <a:latin typeface="Courier New"/>
                <a:ea typeface="Courier New"/>
              </a:rPr>
              <a:t>/admin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7360920" y="4050720"/>
            <a:ext cx="3702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autó felvétele, törlése, logok backendben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6355080" y="482796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Minden modul saját routes.py, schemas.py és service.py állománnyal dolgozik, ahol szükséges.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sldNum" idx="8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8AEB129-5751-493A-8EDB-3B15985CC0B5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Kép 2" descr="A képen szöveg, képernyőkép, Betűtípus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4D5DAB3-9659-11E7-E389-EF344771A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40" y="1486080"/>
            <a:ext cx="5673900" cy="3885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4630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2BF"/>
                </a:solidFill>
                <a:latin typeface="Aptos"/>
              </a:defRPr>
            </a:pPr>
            <a:r>
              <a:t>ADATMODELL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6400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2337"/>
                </a:solidFill>
                <a:latin typeface="Aptos"/>
              </a:defRPr>
            </a:pPr>
            <a:r>
              <a:t>A fő adatbázis objektumok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66377"/>
                </a:solidFill>
                <a:latin typeface="Aptos"/>
              </a:defRPr>
            </a:pPr>
            <a:r>
              <a:t>A Rental tábla a központi elem: összekapcsolja az ügyfelet, az autót és a kölcsönzés állapotát.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2331720"/>
            <a:ext cx="1325879" cy="274320"/>
          </a:xfrm>
          <a:prstGeom prst="line">
            <a:avLst/>
          </a:prstGeom>
          <a:ln w="22860">
            <a:solidFill>
              <a:srgbClr val="9EB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651760" y="3035808"/>
            <a:ext cx="1325879" cy="576072"/>
          </a:xfrm>
          <a:prstGeom prst="line">
            <a:avLst/>
          </a:prstGeom>
          <a:ln w="22860">
            <a:solidFill>
              <a:srgbClr val="9EB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97880" y="2834640"/>
            <a:ext cx="1005840" cy="0"/>
          </a:xfrm>
          <a:prstGeom prst="line">
            <a:avLst/>
          </a:prstGeom>
          <a:ln w="22860">
            <a:solidFill>
              <a:srgbClr val="9EB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49640" y="2057400"/>
            <a:ext cx="804672" cy="457200"/>
          </a:xfrm>
          <a:prstGeom prst="line">
            <a:avLst/>
          </a:prstGeom>
          <a:ln w="22860">
            <a:solidFill>
              <a:srgbClr val="9EB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49640" y="3154680"/>
            <a:ext cx="804672" cy="704088"/>
          </a:xfrm>
          <a:prstGeom prst="line">
            <a:avLst/>
          </a:prstGeom>
          <a:ln w="22860">
            <a:solidFill>
              <a:srgbClr val="9EB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828800"/>
            <a:ext cx="2057400" cy="841248"/>
          </a:xfrm>
          <a:prstGeom prst="roundRect">
            <a:avLst/>
          </a:prstGeom>
          <a:solidFill>
            <a:srgbClr val="F4FCF7"/>
          </a:solidFill>
          <a:ln w="15240">
            <a:solidFill>
              <a:srgbClr val="369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09728" bIns="91440" rtlCol="0" anchor="ctr"/>
          <a:lstStyle/>
          <a:p>
            <a:pPr algn="ctr">
              <a:defRPr sz="1500" b="1">
                <a:solidFill>
                  <a:srgbClr val="1A2337"/>
                </a:solidFill>
                <a:latin typeface="Aptos"/>
              </a:defRPr>
            </a:pPr>
            <a:r>
              <a:t>User</a:t>
            </a:r>
          </a:p>
          <a:p>
            <a:pPr>
              <a:spcBef>
                <a:spcPts val="800"/>
              </a:spcBef>
              <a:defRPr sz="950">
                <a:solidFill>
                  <a:srgbClr val="566377"/>
                </a:solidFill>
                <a:latin typeface="Aptos"/>
              </a:defRPr>
            </a:pPr>
            <a:r>
              <a:t>regisztrált ügyfél</a:t>
            </a:r>
            <a:br/>
            <a:r>
              <a:t>név, email, telefon, cím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154680"/>
            <a:ext cx="2057400" cy="841248"/>
          </a:xfrm>
          <a:prstGeom prst="roundRect">
            <a:avLst/>
          </a:prstGeom>
          <a:solidFill>
            <a:srgbClr val="F4FCF7"/>
          </a:solidFill>
          <a:ln w="15240">
            <a:solidFill>
              <a:srgbClr val="369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09728" bIns="91440" rtlCol="0" anchor="ctr"/>
          <a:lstStyle/>
          <a:p>
            <a:pPr algn="ctr">
              <a:defRPr sz="1500" b="1">
                <a:solidFill>
                  <a:srgbClr val="1A2337"/>
                </a:solidFill>
                <a:latin typeface="Aptos"/>
              </a:defRPr>
            </a:pPr>
            <a:r>
              <a:t>Customer</a:t>
            </a:r>
          </a:p>
          <a:p>
            <a:pPr>
              <a:spcBef>
                <a:spcPts val="800"/>
              </a:spcBef>
              <a:defRPr sz="950">
                <a:solidFill>
                  <a:srgbClr val="566377"/>
                </a:solidFill>
                <a:latin typeface="Aptos"/>
              </a:defRPr>
            </a:pPr>
            <a:r>
              <a:t>vendég ügyfél adatai</a:t>
            </a:r>
            <a:br/>
            <a:r>
              <a:t>regisztráció nélkül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331720"/>
            <a:ext cx="1920240" cy="987552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2B7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09728" bIns="91440" rtlCol="0" anchor="ctr"/>
          <a:lstStyle/>
          <a:p>
            <a:pPr algn="ctr">
              <a:defRPr sz="1600" b="1">
                <a:solidFill>
                  <a:srgbClr val="1A2337"/>
                </a:solidFill>
                <a:latin typeface="Aptos"/>
              </a:defRPr>
            </a:pPr>
            <a:r>
              <a:t>Rental</a:t>
            </a:r>
          </a:p>
          <a:p>
            <a:pPr>
              <a:spcBef>
                <a:spcPts val="800"/>
              </a:spcBef>
              <a:defRPr sz="919">
                <a:solidFill>
                  <a:srgbClr val="566377"/>
                </a:solidFill>
                <a:latin typeface="Aptos"/>
              </a:defRPr>
            </a:pPr>
            <a:r>
              <a:t>kölcsönzés központi táblája</a:t>
            </a:r>
            <a:br/>
            <a:r>
              <a:t>időszak, állapot, ár, km-adatok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331720"/>
            <a:ext cx="1737360" cy="987552"/>
          </a:xfrm>
          <a:prstGeom prst="roundRect">
            <a:avLst/>
          </a:prstGeom>
          <a:solidFill>
            <a:srgbClr val="FFF8EF"/>
          </a:solidFill>
          <a:ln w="15240">
            <a:solidFill>
              <a:srgbClr val="C47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09728" bIns="91440" rtlCol="0" anchor="ctr"/>
          <a:lstStyle/>
          <a:p>
            <a:pPr algn="ctr">
              <a:defRPr sz="1600" b="1">
                <a:solidFill>
                  <a:srgbClr val="1A2337"/>
                </a:solidFill>
                <a:latin typeface="Aptos"/>
              </a:defRPr>
            </a:pPr>
            <a:r>
              <a:t>Car</a:t>
            </a:r>
          </a:p>
          <a:p>
            <a:pPr>
              <a:spcBef>
                <a:spcPts val="800"/>
              </a:spcBef>
              <a:defRPr sz="919">
                <a:solidFill>
                  <a:srgbClr val="566377"/>
                </a:solidFill>
                <a:latin typeface="Aptos"/>
              </a:defRPr>
            </a:pPr>
            <a:r>
              <a:t>autó adatai</a:t>
            </a:r>
            <a:br/>
            <a:r>
              <a:t>rendszám, km, napi díj, elérhető-e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54312" y="1572768"/>
            <a:ext cx="2057400" cy="868680"/>
          </a:xfrm>
          <a:prstGeom prst="roundRect">
            <a:avLst/>
          </a:prstGeom>
          <a:solidFill>
            <a:srgbClr val="F8EFFF"/>
          </a:solidFill>
          <a:ln w="15240">
            <a:solidFill>
              <a:srgbClr val="874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09728" bIns="91440" rtlCol="0" anchor="ctr"/>
          <a:lstStyle/>
          <a:p>
            <a:pPr algn="ctr">
              <a:defRPr sz="1500" b="1">
                <a:solidFill>
                  <a:srgbClr val="1A2337"/>
                </a:solidFill>
                <a:latin typeface="Aptos"/>
              </a:defRPr>
            </a:pPr>
            <a:r>
              <a:t>Invoice</a:t>
            </a:r>
          </a:p>
          <a:p>
            <a:pPr>
              <a:spcBef>
                <a:spcPts val="800"/>
              </a:spcBef>
              <a:defRPr sz="930">
                <a:solidFill>
                  <a:srgbClr val="566377"/>
                </a:solidFill>
                <a:latin typeface="Aptos"/>
              </a:defRPr>
            </a:pPr>
            <a:r>
              <a:t>számla a lezárt kölcsönzésből</a:t>
            </a:r>
            <a:br/>
            <a:r>
              <a:t>nettó, ÁFA, bruttó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54312" y="3438144"/>
            <a:ext cx="2057400" cy="868680"/>
          </a:xfrm>
          <a:prstGeom prst="roundRect">
            <a:avLst/>
          </a:prstGeom>
          <a:solidFill>
            <a:srgbClr val="FFF2F2"/>
          </a:solidFill>
          <a:ln w="15240"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09728" bIns="91440" rtlCol="0" anchor="ctr"/>
          <a:lstStyle/>
          <a:p>
            <a:pPr algn="ctr">
              <a:defRPr sz="1500" b="1">
                <a:solidFill>
                  <a:srgbClr val="1A2337"/>
                </a:solidFill>
                <a:latin typeface="Aptos"/>
              </a:defRPr>
            </a:pPr>
            <a:r>
              <a:t>ActivityLog</a:t>
            </a:r>
          </a:p>
          <a:p>
            <a:pPr>
              <a:spcBef>
                <a:spcPts val="800"/>
              </a:spcBef>
              <a:defRPr sz="930">
                <a:solidFill>
                  <a:srgbClr val="566377"/>
                </a:solidFill>
                <a:latin typeface="Aptos"/>
              </a:defRPr>
            </a:pPr>
            <a:r>
              <a:t>fontos műveletek naplója</a:t>
            </a:r>
            <a:br/>
            <a:r>
              <a:t>ki, mit, mikor módosított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00600"/>
            <a:ext cx="237744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09728" bIns="91440" rtlCol="0" anchor="ctr"/>
          <a:lstStyle/>
          <a:p>
            <a:pPr algn="ctr">
              <a:defRPr sz="1250" b="1">
                <a:solidFill>
                  <a:srgbClr val="1A2337"/>
                </a:solidFill>
                <a:latin typeface="Aptos"/>
              </a:defRPr>
            </a:pPr>
            <a:r>
              <a:t>Role / userroles</a:t>
            </a:r>
          </a:p>
          <a:p>
            <a:pPr>
              <a:spcBef>
                <a:spcPts val="800"/>
              </a:spcBef>
              <a:defRPr sz="890">
                <a:solidFill>
                  <a:srgbClr val="566377"/>
                </a:solidFill>
                <a:latin typeface="Aptos"/>
              </a:defRPr>
            </a:pPr>
            <a:r>
              <a:t>a User jogosultságai: User, Clerk,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039112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B72BF"/>
                </a:solidFill>
                <a:latin typeface="Aptos"/>
              </a:defRPr>
            </a:pPr>
            <a:r>
              <a:t>user_id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685032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B72BF"/>
                </a:solidFill>
                <a:latin typeface="Aptos"/>
              </a:defRPr>
            </a:pPr>
            <a:r>
              <a:t>customer_id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57860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B72BF"/>
                </a:solidFill>
                <a:latin typeface="Aptos"/>
              </a:defRPr>
            </a:pPr>
            <a:r>
              <a:t>car_id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1856231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74AB1"/>
                </a:solidFill>
                <a:latin typeface="Aptos"/>
              </a:defRPr>
            </a:pPr>
            <a:r>
              <a:t>1 : 0..1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7307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D4848"/>
                </a:solidFill>
                <a:latin typeface="Aptos"/>
              </a:defRPr>
            </a:pPr>
            <a:r>
              <a:t>naplóz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457200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Ins="146304" bIns="73152" rtlCol="0" anchor="ctr"/>
          <a:lstStyle/>
          <a:p>
            <a:pPr algn="ctr">
              <a:defRPr sz="1300" b="1">
                <a:solidFill>
                  <a:srgbClr val="1A2337"/>
                </a:solidFill>
                <a:latin typeface="Aptos"/>
              </a:defRPr>
            </a:pPr>
            <a:r>
              <a:t>Kapcsolati logika</a:t>
            </a:r>
          </a:p>
          <a:p>
            <a:pPr>
              <a:spcBef>
                <a:spcPts val="200"/>
              </a:spcBef>
              <a:defRPr sz="960">
                <a:solidFill>
                  <a:srgbClr val="566377"/>
                </a:solidFill>
                <a:latin typeface="Aptos"/>
              </a:defRPr>
            </a:pPr>
            <a:r>
              <a:t>• User vagy Customer indíthat kölcsönzési igényt</a:t>
            </a:r>
          </a:p>
          <a:p>
            <a:pPr>
              <a:spcBef>
                <a:spcPts val="200"/>
              </a:spcBef>
              <a:defRPr sz="960">
                <a:solidFill>
                  <a:srgbClr val="566377"/>
                </a:solidFill>
                <a:latin typeface="Aptos"/>
              </a:defRPr>
            </a:pPr>
            <a:r>
              <a:t>• Rental kapcsolódik egy autóhoz, és státuszokon halad végig</a:t>
            </a:r>
          </a:p>
          <a:p>
            <a:pPr>
              <a:spcBef>
                <a:spcPts val="200"/>
              </a:spcBef>
              <a:defRPr sz="960">
                <a:solidFill>
                  <a:srgbClr val="566377"/>
                </a:solidFill>
                <a:latin typeface="Aptos"/>
              </a:defRPr>
            </a:pPr>
            <a:r>
              <a:t>• Lezárt / visszavett kölcsönzésből készülhet Invoice</a:t>
            </a:r>
          </a:p>
          <a:p>
            <a:pPr>
              <a:spcBef>
                <a:spcPts val="200"/>
              </a:spcBef>
              <a:defRPr sz="960">
                <a:solidFill>
                  <a:srgbClr val="566377"/>
                </a:solidFill>
                <a:latin typeface="Aptos"/>
              </a:defRPr>
            </a:pPr>
            <a:r>
              <a:t>• A Role dönti el, melyik védett végpont érhető 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473952"/>
            <a:ext cx="11384280" cy="9144"/>
          </a:xfrm>
          <a:prstGeom prst="rect">
            <a:avLst/>
          </a:prstGeom>
          <a:solidFill>
            <a:srgbClr val="D2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94008" y="6501384"/>
            <a:ext cx="274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66377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685800" y="20124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F6EB3"/>
                </a:solidFill>
                <a:effectLst/>
                <a:uFillTx/>
                <a:latin typeface="Aptos"/>
              </a:rPr>
              <a:t>BIZTONSÁG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640080" y="51192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033"/>
                </a:solidFill>
                <a:effectLst/>
                <a:uFillTx/>
                <a:latin typeface="Aptos Display"/>
                <a:ea typeface="Aptos Display"/>
              </a:rPr>
              <a:t>Bejelentkezés és jogosultságkezelés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658440" y="97848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Hash-elt jelszó, JWT token és szerepkör alapú védelem.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2121120" y="2834640"/>
            <a:ext cx="914400" cy="360"/>
          </a:xfrm>
          <a:prstGeom prst="line">
            <a:avLst/>
          </a:prstGeom>
          <a:ln w="25400">
            <a:solidFill>
              <a:srgbClr val="2F6EB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4617720" y="2834640"/>
            <a:ext cx="868680" cy="360"/>
          </a:xfrm>
          <a:prstGeom prst="line">
            <a:avLst/>
          </a:prstGeom>
          <a:ln w="25400">
            <a:solidFill>
              <a:srgbClr val="2F6EB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5"/>
          <p:cNvSpPr/>
          <p:nvPr/>
        </p:nvSpPr>
        <p:spPr>
          <a:xfrm>
            <a:off x="7058880" y="2834640"/>
            <a:ext cx="868680" cy="360"/>
          </a:xfrm>
          <a:prstGeom prst="line">
            <a:avLst/>
          </a:prstGeom>
          <a:ln w="25400">
            <a:solidFill>
              <a:srgbClr val="2F6EB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9509760" y="2834640"/>
            <a:ext cx="868680" cy="360"/>
          </a:xfrm>
          <a:prstGeom prst="line">
            <a:avLst/>
          </a:prstGeom>
          <a:ln w="25400">
            <a:solidFill>
              <a:srgbClr val="2F6EB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7"/>
          <p:cNvSpPr/>
          <p:nvPr/>
        </p:nvSpPr>
        <p:spPr>
          <a:xfrm>
            <a:off x="640080" y="2011680"/>
            <a:ext cx="1737000" cy="1645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5240">
            <a:solidFill>
              <a:srgbClr val="2D8C6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8"/>
          <p:cNvSpPr/>
          <p:nvPr/>
        </p:nvSpPr>
        <p:spPr>
          <a:xfrm>
            <a:off x="749880" y="2148840"/>
            <a:ext cx="347040" cy="347040"/>
          </a:xfrm>
          <a:prstGeom prst="ellipse">
            <a:avLst/>
          </a:prstGeom>
          <a:solidFill>
            <a:srgbClr val="2D8C65"/>
          </a:solidFill>
          <a:ln w="12700">
            <a:solidFill>
              <a:srgbClr val="2D8C6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749880" y="2212920"/>
            <a:ext cx="347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1170360" y="2157840"/>
            <a:ext cx="1078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Regisztráció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804600" y="2578680"/>
            <a:ext cx="14079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User + Address létrehozása, alap User szerepkör.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3063240" y="2011680"/>
            <a:ext cx="1737000" cy="1645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5240">
            <a:solidFill>
              <a:srgbClr val="B9753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3"/>
          <p:cNvSpPr/>
          <p:nvPr/>
        </p:nvSpPr>
        <p:spPr>
          <a:xfrm>
            <a:off x="3173040" y="2148840"/>
            <a:ext cx="347040" cy="347040"/>
          </a:xfrm>
          <a:prstGeom prst="ellipse">
            <a:avLst/>
          </a:prstGeom>
          <a:solidFill>
            <a:srgbClr val="B97531"/>
          </a:solidFill>
          <a:ln w="12700">
            <a:solidFill>
              <a:srgbClr val="B9753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3173040" y="2212920"/>
            <a:ext cx="347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3593520" y="2157840"/>
            <a:ext cx="1078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Jelszó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3227760" y="2578680"/>
            <a:ext cx="14079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set_password() hash formában menti.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7"/>
          <p:cNvSpPr/>
          <p:nvPr/>
        </p:nvSpPr>
        <p:spPr>
          <a:xfrm>
            <a:off x="5504760" y="2011680"/>
            <a:ext cx="1737000" cy="1645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5240">
            <a:solidFill>
              <a:srgbClr val="2F6E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8"/>
          <p:cNvSpPr/>
          <p:nvPr/>
        </p:nvSpPr>
        <p:spPr>
          <a:xfrm>
            <a:off x="5614560" y="2148840"/>
            <a:ext cx="347040" cy="347040"/>
          </a:xfrm>
          <a:prstGeom prst="ellipse">
            <a:avLst/>
          </a:prstGeom>
          <a:solidFill>
            <a:srgbClr val="2F6EB3"/>
          </a:solidFill>
          <a:ln w="12700">
            <a:solidFill>
              <a:srgbClr val="2F6E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9"/>
          <p:cNvSpPr/>
          <p:nvPr/>
        </p:nvSpPr>
        <p:spPr>
          <a:xfrm>
            <a:off x="5614560" y="2212920"/>
            <a:ext cx="347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6035040" y="2157840"/>
            <a:ext cx="1078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Login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1"/>
          <p:cNvSpPr/>
          <p:nvPr/>
        </p:nvSpPr>
        <p:spPr>
          <a:xfrm>
            <a:off x="5669280" y="2578680"/>
            <a:ext cx="14079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email alapján keresés, check_password().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2"/>
          <p:cNvSpPr/>
          <p:nvPr/>
        </p:nvSpPr>
        <p:spPr>
          <a:xfrm>
            <a:off x="7955280" y="2011680"/>
            <a:ext cx="1737000" cy="1645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5240">
            <a:solidFill>
              <a:srgbClr val="7A42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3"/>
          <p:cNvSpPr/>
          <p:nvPr/>
        </p:nvSpPr>
        <p:spPr>
          <a:xfrm>
            <a:off x="8065080" y="2148840"/>
            <a:ext cx="347040" cy="347040"/>
          </a:xfrm>
          <a:prstGeom prst="ellipse">
            <a:avLst/>
          </a:prstGeom>
          <a:solidFill>
            <a:srgbClr val="7A42A8"/>
          </a:solidFill>
          <a:ln w="12700">
            <a:solidFill>
              <a:srgbClr val="7A42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8065080" y="2212920"/>
            <a:ext cx="347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8485560" y="2157840"/>
            <a:ext cx="1078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JWT token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6"/>
          <p:cNvSpPr/>
          <p:nvPr/>
        </p:nvSpPr>
        <p:spPr>
          <a:xfrm>
            <a:off x="8119800" y="2578680"/>
            <a:ext cx="14079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user_id, roles, exp adattartalom.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7"/>
          <p:cNvSpPr/>
          <p:nvPr/>
        </p:nvSpPr>
        <p:spPr>
          <a:xfrm>
            <a:off x="10378440" y="2011680"/>
            <a:ext cx="1188360" cy="16455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240">
            <a:solidFill>
              <a:srgbClr val="B34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8"/>
          <p:cNvSpPr/>
          <p:nvPr/>
        </p:nvSpPr>
        <p:spPr>
          <a:xfrm>
            <a:off x="10488240" y="2148840"/>
            <a:ext cx="347040" cy="347040"/>
          </a:xfrm>
          <a:prstGeom prst="ellipse">
            <a:avLst/>
          </a:prstGeom>
          <a:solidFill>
            <a:srgbClr val="B34040"/>
          </a:solidFill>
          <a:ln w="12700">
            <a:solidFill>
              <a:srgbClr val="B34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9"/>
          <p:cNvSpPr/>
          <p:nvPr/>
        </p:nvSpPr>
        <p:spPr>
          <a:xfrm>
            <a:off x="10488240" y="2212920"/>
            <a:ext cx="347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0"/>
          <p:cNvSpPr/>
          <p:nvPr/>
        </p:nvSpPr>
        <p:spPr>
          <a:xfrm>
            <a:off x="10908720" y="2157840"/>
            <a:ext cx="529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Védett API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1"/>
          <p:cNvSpPr/>
          <p:nvPr/>
        </p:nvSpPr>
        <p:spPr>
          <a:xfrm>
            <a:off x="10542960" y="2578680"/>
            <a:ext cx="85932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role guard: User / Clerk / Admin.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2"/>
          <p:cNvSpPr/>
          <p:nvPr/>
        </p:nvSpPr>
        <p:spPr>
          <a:xfrm>
            <a:off x="1051560" y="4434840"/>
            <a:ext cx="10058040" cy="776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4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3"/>
          <p:cNvSpPr/>
          <p:nvPr/>
        </p:nvSpPr>
        <p:spPr>
          <a:xfrm>
            <a:off x="1325880" y="4645080"/>
            <a:ext cx="9509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Példa token logika: a sikeres login válaszában a felhasználói adatok mellett token is visszakerül, amit a frontend később Bearer tokenként küld.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sldNum" idx="10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20A4ABB-5F37-45EB-8F10-8A349407DD81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685800" y="20124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F6EB3"/>
                </a:solidFill>
                <a:effectLst/>
                <a:uFillTx/>
                <a:latin typeface="Aptos"/>
              </a:rPr>
              <a:t>ÜZLETI FOLYAMAT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640080" y="51192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033"/>
                </a:solidFill>
                <a:effectLst/>
                <a:uFillTx/>
                <a:latin typeface="Aptos Display"/>
                <a:ea typeface="Aptos Display"/>
              </a:rPr>
              <a:t>A kölcsönzés életciklusa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658440" y="97848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 backend végigvezeti és ellenőrzi az igényléstől a számláig tartó folyamatot.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1143000" y="2971800"/>
            <a:ext cx="9921240" cy="360"/>
          </a:xfrm>
          <a:prstGeom prst="line">
            <a:avLst/>
          </a:prstGeom>
          <a:ln w="31750">
            <a:solidFill>
              <a:srgbClr val="AABDD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1161360" y="2651760"/>
            <a:ext cx="639720" cy="639720"/>
          </a:xfrm>
          <a:prstGeom prst="ellipse">
            <a:avLst/>
          </a:prstGeom>
          <a:solidFill>
            <a:srgbClr val="2F6EB3"/>
          </a:solidFill>
          <a:ln w="12700">
            <a:solidFill>
              <a:srgbClr val="2F6E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1197720" y="2743200"/>
            <a:ext cx="566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📝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685800" y="350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Igény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685800" y="3822120"/>
            <a:ext cx="15998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user / public rental request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3081600" y="2651760"/>
            <a:ext cx="639720" cy="639720"/>
          </a:xfrm>
          <a:prstGeom prst="ellipse">
            <a:avLst/>
          </a:prstGeom>
          <a:solidFill>
            <a:srgbClr val="2D8C65"/>
          </a:solidFill>
          <a:ln w="12700">
            <a:solidFill>
              <a:srgbClr val="2D8C6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3117960" y="2743200"/>
            <a:ext cx="566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✅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2606040" y="350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Validáció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2606040" y="3822120"/>
            <a:ext cx="15998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időszak, elérhetőség, átfedés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5001840" y="2651760"/>
            <a:ext cx="639720" cy="639720"/>
          </a:xfrm>
          <a:prstGeom prst="ellipse">
            <a:avLst/>
          </a:prstGeom>
          <a:solidFill>
            <a:srgbClr val="B97531"/>
          </a:solidFill>
          <a:ln w="12700">
            <a:solidFill>
              <a:srgbClr val="B9753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5038200" y="2743200"/>
            <a:ext cx="566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🤝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4526280" y="350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Elfogadás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4526280" y="3822120"/>
            <a:ext cx="15998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ügyintéző accepted állapot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6"/>
          <p:cNvSpPr/>
          <p:nvPr/>
        </p:nvSpPr>
        <p:spPr>
          <a:xfrm>
            <a:off x="6922080" y="2651760"/>
            <a:ext cx="639720" cy="639720"/>
          </a:xfrm>
          <a:prstGeom prst="ellipse">
            <a:avLst/>
          </a:prstGeom>
          <a:solidFill>
            <a:srgbClr val="7A42A8"/>
          </a:solidFill>
          <a:ln w="12700">
            <a:solidFill>
              <a:srgbClr val="7A42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6958440" y="2743200"/>
            <a:ext cx="566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🔑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6446520" y="350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Átadás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6446520" y="3822120"/>
            <a:ext cx="15998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km-óra rögzítés, autó nem elérhető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0"/>
          <p:cNvSpPr/>
          <p:nvPr/>
        </p:nvSpPr>
        <p:spPr>
          <a:xfrm>
            <a:off x="8842320" y="2651760"/>
            <a:ext cx="639720" cy="639720"/>
          </a:xfrm>
          <a:prstGeom prst="ellipse">
            <a:avLst/>
          </a:prstGeom>
          <a:solidFill>
            <a:srgbClr val="B34040"/>
          </a:solidFill>
          <a:ln w="12700">
            <a:solidFill>
              <a:srgbClr val="B34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8878680" y="2743200"/>
            <a:ext cx="566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↩️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2"/>
          <p:cNvSpPr/>
          <p:nvPr/>
        </p:nvSpPr>
        <p:spPr>
          <a:xfrm>
            <a:off x="8366760" y="350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Visszavétel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3"/>
          <p:cNvSpPr/>
          <p:nvPr/>
        </p:nvSpPr>
        <p:spPr>
          <a:xfrm>
            <a:off x="8366760" y="3822120"/>
            <a:ext cx="15998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záró km, autó újra elérhető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4"/>
          <p:cNvSpPr/>
          <p:nvPr/>
        </p:nvSpPr>
        <p:spPr>
          <a:xfrm>
            <a:off x="10762560" y="2651760"/>
            <a:ext cx="639720" cy="639720"/>
          </a:xfrm>
          <a:prstGeom prst="ellipse">
            <a:avLst/>
          </a:prstGeom>
          <a:solidFill>
            <a:srgbClr val="162033"/>
          </a:solidFill>
          <a:ln w="12700">
            <a:solidFill>
              <a:srgbClr val="16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5"/>
          <p:cNvSpPr/>
          <p:nvPr/>
        </p:nvSpPr>
        <p:spPr>
          <a:xfrm>
            <a:off x="10798920" y="2743200"/>
            <a:ext cx="566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🧾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6"/>
          <p:cNvSpPr/>
          <p:nvPr/>
        </p:nvSpPr>
        <p:spPr>
          <a:xfrm>
            <a:off x="10287000" y="3502080"/>
            <a:ext cx="1599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Számla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7"/>
          <p:cNvSpPr/>
          <p:nvPr/>
        </p:nvSpPr>
        <p:spPr>
          <a:xfrm>
            <a:off x="10287000" y="3822120"/>
            <a:ext cx="15998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nettó + 27% ÁFA + bruttó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8"/>
          <p:cNvSpPr/>
          <p:nvPr/>
        </p:nvSpPr>
        <p:spPr>
          <a:xfrm>
            <a:off x="914400" y="51022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A legfontosabb ellenőrzések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9"/>
          <p:cNvSpPr/>
          <p:nvPr/>
        </p:nvSpPr>
        <p:spPr>
          <a:xfrm>
            <a:off x="914400" y="5440680"/>
            <a:ext cx="101494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Autó aktív és elérhető • kezdés nem múltbeli • záró dátum nem korábbi • nincs átfedő foglalás • kilométeróra nem csökkenhet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sldNum" idx="11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CFB0D67-0CF0-47A8-A3ED-5448E2890A27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685800" y="20124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F6EB3"/>
                </a:solidFill>
                <a:effectLst/>
                <a:uFillTx/>
                <a:latin typeface="Aptos"/>
              </a:rPr>
              <a:t>SZEREPKÖRÖK A GYAKORLATBAN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640080" y="51192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033"/>
                </a:solidFill>
                <a:effectLst/>
                <a:uFillTx/>
                <a:latin typeface="Aptos Display"/>
                <a:ea typeface="Aptos Display"/>
              </a:rPr>
              <a:t>Ügyintézői és admin funkciók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658440" y="97848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 backend elválasztja a napi ügyintézést és az autóállomány kezelését.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713160" y="1417320"/>
            <a:ext cx="5074560" cy="4297320"/>
          </a:xfrm>
          <a:prstGeom prst="roundRect">
            <a:avLst>
              <a:gd name="adj" fmla="val 1277"/>
            </a:avLst>
          </a:prstGeom>
          <a:solidFill>
            <a:srgbClr val="FFF7EC"/>
          </a:solidFill>
          <a:ln w="15240">
            <a:solidFill>
              <a:srgbClr val="B97531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914400" y="158184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🧾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1371600" y="1581840"/>
            <a:ext cx="4214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Ügyintézői oldal – /api/clerk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914400" y="2002680"/>
            <a:ext cx="4672080" cy="358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beérkezett igények listázása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futó és lejárt kölcsönzések megtekintése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kölcsönzés elfogadása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autó átadása és visszavétele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számla és autóadat-szerkesztés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6400800" y="1417320"/>
            <a:ext cx="5074560" cy="4297320"/>
          </a:xfrm>
          <a:prstGeom prst="roundRect">
            <a:avLst>
              <a:gd name="adj" fmla="val 1277"/>
            </a:avLst>
          </a:prstGeom>
          <a:solidFill>
            <a:srgbClr val="F7ECFF"/>
          </a:solidFill>
          <a:ln w="15240">
            <a:solidFill>
              <a:srgbClr val="7A42A8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6602040" y="158184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🛠️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7059240" y="1581840"/>
            <a:ext cx="4214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Admin oldal – /api/admin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6602040" y="2002680"/>
            <a:ext cx="4672080" cy="358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új autó felvétele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autó törlése / soft delete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admin jogosultságú műveletek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ActivityLog lekérdezés backendben előkészítve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• jelenleg nincs külön napló UI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1005840" y="58978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Soft delete: az autó törlésekor az adat nem veszik el, csak inactive és unavailable állapotba kerül.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sldNum" idx="12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92D4905-6FFA-4137-946E-18A5B51AB735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685800" y="20124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F6EB3"/>
                </a:solidFill>
                <a:effectLst/>
                <a:uFillTx/>
                <a:latin typeface="Aptos"/>
              </a:rPr>
              <a:t>MEGBÍZHATÓSÁG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640080" y="51192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033"/>
                </a:solidFill>
                <a:effectLst/>
                <a:uFillTx/>
                <a:latin typeface="Aptos Display"/>
                <a:ea typeface="Aptos Display"/>
              </a:rPr>
              <a:t>Validáció, hibakezelés és naplózás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658440" y="97848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 backend több ponton védi az adatbázis konzisztenciáját.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685800" y="1463040"/>
            <a:ext cx="3428640" cy="274284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 w="15240">
            <a:solidFill>
              <a:srgbClr val="2F6EB3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887040" y="16275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🧩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1344240" y="1627560"/>
            <a:ext cx="2568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Schema validáció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887040" y="2048400"/>
            <a:ext cx="3026160" cy="202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 bejövő JSON szerkezetét a schemas.py fájlok írják le. Ez segít kiszűrni a hibás e-mailt, hiányzó mezőt vagy rossz adattípust.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4389120" y="1463040"/>
            <a:ext cx="3428640" cy="2742840"/>
          </a:xfrm>
          <a:prstGeom prst="roundRect">
            <a:avLst>
              <a:gd name="adj" fmla="val 2000"/>
            </a:avLst>
          </a:prstGeom>
          <a:solidFill>
            <a:srgbClr val="E9F7EF"/>
          </a:solidFill>
          <a:ln w="15240">
            <a:solidFill>
              <a:srgbClr val="2D8C65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4590360" y="16275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5047560" y="1627560"/>
            <a:ext cx="2568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Tranzakciók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4590360" y="2048400"/>
            <a:ext cx="3026160" cy="202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 service műveletek db.session.add(), flush(), commit() és hiba esetén rollback() logikát használnak.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8092440" y="1463040"/>
            <a:ext cx="3428640" cy="2742840"/>
          </a:xfrm>
          <a:prstGeom prst="roundRect">
            <a:avLst>
              <a:gd name="adj" fmla="val 2000"/>
            </a:avLst>
          </a:prstGeom>
          <a:solidFill>
            <a:srgbClr val="FFF0F0"/>
          </a:solidFill>
          <a:ln w="15240">
            <a:solidFill>
              <a:srgbClr val="B34040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8293680" y="162756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🧾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8750880" y="1627560"/>
            <a:ext cx="2568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62033"/>
                </a:solidFill>
                <a:effectLst/>
                <a:uFillTx/>
                <a:latin typeface="Aptos"/>
              </a:rPr>
              <a:t>ActivityLog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8293680" y="2048400"/>
            <a:ext cx="3026160" cy="202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675"/>
                </a:solidFill>
                <a:effectLst/>
                <a:uFillTx/>
                <a:latin typeface="Aptos"/>
              </a:rPr>
              <a:t>A fontos műveletek naplózódnak a backendben: regisztráció, kölcsönzési igény, autó módosítás, átadás, visszavétel, számla. Külön UI jelenleg nincs hozzá.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1170360" y="4800600"/>
            <a:ext cx="9829440" cy="868320"/>
          </a:xfrm>
          <a:prstGeom prst="roundRect">
            <a:avLst>
              <a:gd name="adj" fmla="val 4211"/>
            </a:avLst>
          </a:prstGeom>
          <a:solidFill>
            <a:srgbClr val="162033"/>
          </a:solidFill>
          <a:ln w="12700">
            <a:solidFill>
              <a:srgbClr val="16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1417320" y="5074920"/>
            <a:ext cx="9326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Eredmény: kevesebb hibás adat, követhető műveletek és szerepkör szerint kontrollált hozzáférés.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sldNum" idx="13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F1D4807-CD77-4F9D-8633-96BD776B9519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DBE823D-19BB-6892-6F89-1F247A3B0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19" y="0"/>
            <a:ext cx="11230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58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777240" y="65844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Összegzés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822960" y="1325880"/>
            <a:ext cx="8000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C9DDF5"/>
                </a:solidFill>
                <a:effectLst/>
                <a:uFillTx/>
                <a:latin typeface="Aptos"/>
              </a:rPr>
              <a:t>A backend egy szerepkörökre bontott, API-alapú autókölcsönző rendszer.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868680" y="2148840"/>
            <a:ext cx="4800240" cy="959760"/>
          </a:xfrm>
          <a:prstGeom prst="roundRect">
            <a:avLst>
              <a:gd name="adj" fmla="val 3810"/>
            </a:avLst>
          </a:prstGeom>
          <a:solidFill>
            <a:srgbClr val="172B49"/>
          </a:solidFill>
          <a:ln w="12700">
            <a:solidFill>
              <a:srgbClr val="2F6EB3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4"/>
          <p:cNvSpPr/>
          <p:nvPr/>
        </p:nvSpPr>
        <p:spPr>
          <a:xfrm>
            <a:off x="1097280" y="2350080"/>
            <a:ext cx="529920" cy="529920"/>
          </a:xfrm>
          <a:prstGeom prst="ellipse">
            <a:avLst/>
          </a:prstGeom>
          <a:solidFill>
            <a:srgbClr val="2F6EB3"/>
          </a:solidFill>
          <a:ln w="12700">
            <a:solidFill>
              <a:srgbClr val="2F6E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1097280" y="245988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1783080" y="23500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Moduláris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1783080" y="266076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C9DDF5"/>
                </a:solidFill>
                <a:effectLst/>
                <a:uFillTx/>
                <a:latin typeface="Aptos"/>
              </a:rPr>
              <a:t>APIFlask + blueprint-ek + Swagger dokumentáció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6309360" y="2148840"/>
            <a:ext cx="4800240" cy="959760"/>
          </a:xfrm>
          <a:prstGeom prst="roundRect">
            <a:avLst>
              <a:gd name="adj" fmla="val 3810"/>
            </a:avLst>
          </a:prstGeom>
          <a:solidFill>
            <a:srgbClr val="172B49"/>
          </a:solidFill>
          <a:ln w="12700">
            <a:solidFill>
              <a:srgbClr val="2F6EB3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9"/>
          <p:cNvSpPr/>
          <p:nvPr/>
        </p:nvSpPr>
        <p:spPr>
          <a:xfrm>
            <a:off x="6537960" y="2350080"/>
            <a:ext cx="529920" cy="529920"/>
          </a:xfrm>
          <a:prstGeom prst="ellipse">
            <a:avLst/>
          </a:prstGeom>
          <a:solidFill>
            <a:srgbClr val="2F6EB3"/>
          </a:solidFill>
          <a:ln w="12700">
            <a:solidFill>
              <a:srgbClr val="2F6E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6537960" y="245988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7223760" y="23500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Adatkezelés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2"/>
          <p:cNvSpPr/>
          <p:nvPr/>
        </p:nvSpPr>
        <p:spPr>
          <a:xfrm>
            <a:off x="7223760" y="266076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C9DDF5"/>
                </a:solidFill>
                <a:effectLst/>
                <a:uFillTx/>
                <a:latin typeface="Aptos"/>
              </a:rPr>
              <a:t>SQLAlchemy ORM, SQLite, modellek és kapcsolatok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3"/>
          <p:cNvSpPr/>
          <p:nvPr/>
        </p:nvSpPr>
        <p:spPr>
          <a:xfrm>
            <a:off x="868680" y="3566160"/>
            <a:ext cx="4800240" cy="959760"/>
          </a:xfrm>
          <a:prstGeom prst="roundRect">
            <a:avLst>
              <a:gd name="adj" fmla="val 3810"/>
            </a:avLst>
          </a:prstGeom>
          <a:solidFill>
            <a:srgbClr val="172B49"/>
          </a:solidFill>
          <a:ln w="12700">
            <a:solidFill>
              <a:srgbClr val="2F6EB3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4"/>
          <p:cNvSpPr/>
          <p:nvPr/>
        </p:nvSpPr>
        <p:spPr>
          <a:xfrm>
            <a:off x="1097280" y="3767400"/>
            <a:ext cx="529920" cy="529920"/>
          </a:xfrm>
          <a:prstGeom prst="ellipse">
            <a:avLst/>
          </a:prstGeom>
          <a:solidFill>
            <a:srgbClr val="2F6EB3"/>
          </a:solidFill>
          <a:ln w="12700">
            <a:solidFill>
              <a:srgbClr val="2F6E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1097280" y="387720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6"/>
          <p:cNvSpPr/>
          <p:nvPr/>
        </p:nvSpPr>
        <p:spPr>
          <a:xfrm>
            <a:off x="1783080" y="376740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Biztonság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7"/>
          <p:cNvSpPr/>
          <p:nvPr/>
        </p:nvSpPr>
        <p:spPr>
          <a:xfrm>
            <a:off x="1783080" y="407808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C9DDF5"/>
                </a:solidFill>
                <a:effectLst/>
                <a:uFillTx/>
                <a:latin typeface="Aptos"/>
              </a:rPr>
              <a:t>hash-elt jelszó, JWT token, role alapú védelem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8"/>
          <p:cNvSpPr/>
          <p:nvPr/>
        </p:nvSpPr>
        <p:spPr>
          <a:xfrm>
            <a:off x="6309360" y="3566160"/>
            <a:ext cx="4800240" cy="959760"/>
          </a:xfrm>
          <a:prstGeom prst="roundRect">
            <a:avLst>
              <a:gd name="adj" fmla="val 3810"/>
            </a:avLst>
          </a:prstGeom>
          <a:solidFill>
            <a:srgbClr val="172B49"/>
          </a:solidFill>
          <a:ln w="12700">
            <a:solidFill>
              <a:srgbClr val="2F6EB3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9"/>
          <p:cNvSpPr/>
          <p:nvPr/>
        </p:nvSpPr>
        <p:spPr>
          <a:xfrm>
            <a:off x="6537960" y="3767400"/>
            <a:ext cx="529920" cy="529920"/>
          </a:xfrm>
          <a:prstGeom prst="ellipse">
            <a:avLst/>
          </a:prstGeom>
          <a:solidFill>
            <a:srgbClr val="2F6EB3"/>
          </a:solidFill>
          <a:ln w="12700">
            <a:solidFill>
              <a:srgbClr val="2F6E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6537960" y="387720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1"/>
          <p:cNvSpPr/>
          <p:nvPr/>
        </p:nvSpPr>
        <p:spPr>
          <a:xfrm>
            <a:off x="7223760" y="376740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Üzleti logika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2"/>
          <p:cNvSpPr/>
          <p:nvPr/>
        </p:nvSpPr>
        <p:spPr>
          <a:xfrm>
            <a:off x="7223760" y="4078080"/>
            <a:ext cx="3611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C9DDF5"/>
                </a:solidFill>
                <a:effectLst/>
                <a:uFillTx/>
                <a:latin typeface="Aptos"/>
              </a:rPr>
              <a:t>kölcsönzés életciklusa, számla, backend naplózás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3"/>
          <p:cNvSpPr/>
          <p:nvPr/>
        </p:nvSpPr>
        <p:spPr>
          <a:xfrm>
            <a:off x="914400" y="5715000"/>
            <a:ext cx="10378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Záró gondolat: a backend nem csak adatokat szolgáltat, hanem a teljes kölcsönzési folyamat szabályait is érvényesíti.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sldNum" idx="14"/>
          </p:nvPr>
        </p:nvSpPr>
        <p:spPr>
          <a:xfrm>
            <a:off x="11109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D677DD2-B2C7-489B-904D-E25FCAA4D66B}" type="slidenum">
              <a:rPr lang="en-US" sz="900" b="0" u="none" strike="noStrike">
                <a:solidFill>
                  <a:srgbClr val="8091A5"/>
                </a:solidFill>
                <a:effectLst/>
                <a:uFillTx/>
                <a:latin typeface="Aptos"/>
                <a:ea typeface="Aptos"/>
              </a:rPr>
              <a:t>11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1600</Words>
  <Application>Microsoft Office PowerPoint</Application>
  <PresentationFormat>Szélesvásznú</PresentationFormat>
  <Paragraphs>204</Paragraphs>
  <Slides>11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Symbol</vt:lpstr>
      <vt:lpstr>Times New Roman</vt:lpstr>
      <vt:lpstr>Wingdings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Pannon Egyetem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Strausz Balázs</dc:creator>
  <cp:lastModifiedBy>Balázs Strausz</cp:lastModifiedBy>
  <cp:revision>3</cp:revision>
  <dcterms:modified xsi:type="dcterms:W3CDTF">2026-05-07T22:11:07Z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2026-05-07T19:38:07Z</dcterms:created>
  <dc:creator>Strausz Balázs</dc:creator>
  <dc:description/>
  <dc:language>en-US</dc:language>
  <cp:lastModifiedBy>Strausz Balázs</cp:lastModifiedBy>
  <dcterms:modified xsi:type="dcterms:W3CDTF">2026-05-07T19:38:07Z</dcterms:modified>
  <cp:revision>1</cp:revision>
  <dc:subject>BérAutó backend beszámoló</dc:subject>
  <dc:title>BérAutó backend – 5 perces beszámoló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